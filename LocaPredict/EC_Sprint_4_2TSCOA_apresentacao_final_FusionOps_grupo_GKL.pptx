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SPRINT 4 — FUSIONOPS · GRUPO GKL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D233F"/>
                </a:solidFill>
                <a:latin typeface="Aptos Display"/>
              </a:rPr>
              <a:t>Da evidência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D233F"/>
                </a:solidFill>
                <a:latin typeface="Aptos Display"/>
              </a:rPr>
              <a:t>à prova.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5204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56B78"/>
                </a:solidFill>
                <a:latin typeface="Aptos"/>
              </a:rPr>
              <a:t>Sprint 3 provou que o MVP funciona. Sprint 4 prova que os números são verdade.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0876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>
                <a:solidFill>
                  <a:srgbClr val="DAE6E8"/>
                </a:solidFill>
                <a:latin typeface="Aptos Display"/>
              </a:rPr>
              <a:t>PROVA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6177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33F"/>
                </a:solidFill>
                <a:latin typeface="Aptos"/>
              </a:rPr>
              <a:t>PRODUTO FUNCIONANDO   •   FLUXOS REAIS   •   NÚMEROS AUDITADOS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ATO 1 — O SUSTO HONESTO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Auditamos a nós mesmos.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77824" y="2377440"/>
          <a:ext cx="7406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237744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Alegação Sprint 3</a:t>
                      </a:r>
                    </a:p>
                  </a:txBody>
                  <a:tcPr anchor="t">
                    <a:solidFill>
                      <a:srgbClr val="2E66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Achado da auditoria</a:t>
                      </a:r>
                    </a:p>
                  </a:txBody>
                  <a:tcPr anchor="t">
                    <a:solidFill>
                      <a:srgbClr val="2E66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Status hoje</a:t>
                      </a:r>
                    </a:p>
                  </a:txBody>
                  <a:tcPr anchor="t">
                    <a:solidFill>
                      <a:srgbClr val="2E66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AUC 0,989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Métrica de treino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CV 0,8475 c/ IC95%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SHAP / Prophet / HDBSCAN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Atalhos do MVP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Refeitos de verdade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−38,5% / −21,4%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Sem desenho causal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Projeções rotuladas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Login sem senha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RBAC de teatro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D233F"/>
                          </a:solidFill>
                          <a:latin typeface="Aptos"/>
                        </a:rPr>
                        <a:t>401 / 403 / 429 testados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Correção com método,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não no improviso.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7406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Funil SPEC → PLAN → TASKS → IMPLEMENT — 42/42 tarefas concluídas e marcadas.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Constituição v1.1.0: 7 princípios e Gates 4–7 (validação, evidência, segurança).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ACR-001 (AUC ≥ 0,85) · ACR-002 (recall ≥ 0,80) · ACR-003 (WAPE &lt; 15%) congelados antes do teste.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2286000" cy="3017520"/>
          </a:xfrm>
          <a:prstGeom prst="rect">
            <a:avLst/>
          </a:prstGeom>
          <a:noFill/>
          <a:ln w="19050">
            <a:solidFill>
              <a:srgbClr val="2E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6B78"/>
                </a:solidFill>
                <a:latin typeface="Aptos"/>
              </a:rPr>
              <a:t>DIAGRAMA: funil + selos ACR/Gates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US1 — RISCO CALIBRADO + SHAP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87% agora significa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87 de cada 100.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ANTES: risco = 55·p + bônus (riscado)  →  DEPOIS: round(100 · p calibrada).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Random Forest + calibração isotônica — recall 0,838 @ τ=0,04 · PR-AUC 0,251.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Modal SHAP: TreeExplainer com valor-base, versão e fidelidade top-k.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2286000" cy="3017520"/>
          </a:xfrm>
          <a:prstGeom prst="rect">
            <a:avLst/>
          </a:prstGeom>
          <a:noFill/>
          <a:ln w="19050">
            <a:solidFill>
              <a:srgbClr val="2E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6B78"/>
                </a:solidFill>
                <a:latin typeface="Aptos"/>
              </a:rPr>
              <a:t>PRINT: modal SHAP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US2 — FORECAST COM BACKTEST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Previsão que venceu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um adversário.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WAPE holdout 13,44% vs. baseline 14,14% — Diebold-Mariano p = 0,0029.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28 origens de backtest · horizontes D+1/D+7 · IC 95% · pico datado pelo modelo.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Participação por squad medida — sem saturação % fabricada.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2286000" cy="3017520"/>
          </a:xfrm>
          <a:prstGeom prst="rect">
            <a:avLst/>
          </a:prstGeom>
          <a:noFill/>
          <a:ln w="19050">
            <a:solidFill>
              <a:srgbClr val="2E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56B78"/>
                </a:solidFill>
                <a:latin typeface="Aptos"/>
              </a:rPr>
              <a:t>PRINT: curva ×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US3 — O DIA EM QUE O SISTEMA SE RECUSOU A MENTIR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HDBSCAN executado de verdade.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Ele reprovou a taxonomia.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063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D233F"/>
                </a:solidFill>
                <a:latin typeface="Aptos Display"/>
              </a:rPr>
              <a:t>0,038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6B78"/>
                </a:solidFill>
                <a:latin typeface="Aptos"/>
              </a:rPr>
              <a:t>overlap mediano (critério ≥ 0,40)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6704" y="3063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D233F"/>
                </a:solidFill>
                <a:latin typeface="Aptos Display"/>
              </a:rPr>
              <a:t>15,07%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6B78"/>
                </a:solidFill>
                <a:latin typeface="Aptos"/>
              </a:rPr>
              <a:t>ruído HDBSCAN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5584" y="30632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D233F"/>
                </a:solidFill>
                <a:latin typeface="Aptos Display"/>
              </a:rPr>
              <a:t>±1%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6B78"/>
                </a:solidFill>
                <a:latin typeface="Aptos"/>
              </a:rPr>
              <a:t>reconciliação testada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56B78"/>
                </a:solidFill>
                <a:latin typeface="Aptos"/>
              </a:rPr>
              <a:t>DBCV 0,4858 · estabilidade 0,8532 · contagens e FP 100% medidos do loader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US4/US5 — MLOPS +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Drift sem falso-alarme.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Auth sem teatro.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7406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KS com correção de Holm (sem ela, 26% de falso-alarme) · janelas versionadas.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Retreino idempotente com hash de artefato — viewer recebe 403.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Sem token 401 · sem senha 401 · abuso 429 · revogação por token.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O PLACAR HONESTO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Antes × depois.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77824" y="2148840"/>
          <a:ext cx="7406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Alegação</a:t>
                      </a:r>
                    </a:p>
                  </a:txBody>
                  <a:tcPr anchor="t">
                    <a:solidFill>
                      <a:srgbClr val="2E66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Antes (inválido)</a:t>
                      </a:r>
                    </a:p>
                  </a:txBody>
                  <a:tcPr anchor="t">
                    <a:solidFill>
                      <a:srgbClr val="2E66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Depois (honesto)</a:t>
                      </a:r>
                    </a:p>
                  </a:txBody>
                  <a:tcPr anchor="t">
                    <a:solidFill>
                      <a:srgbClr val="2E66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AUC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0,989 (treino)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CV 0,8475 [0,81; 0,88]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0,821 (treino)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0,838 @ τ=0,04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Risco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55·p + bônus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round(100·p cal.)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SHAP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5 pesos fixos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TreeExplainer + fidel.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senóide + WAPE const.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backtest, DM p=0,0029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Clusters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regras “HDBSCAN”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HDBSCAN real; não-certif.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Auth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bypass anônimo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D233F"/>
                          </a:solidFill>
                          <a:latin typeface="Aptos"/>
                        </a:rPr>
                        <a:t>401/403/429 testados</a:t>
                      </a:r>
                    </a:p>
                  </a:txBody>
                  <a:tcPr anchor="t">
                    <a:solidFill>
                      <a:srgbClr val="E4ED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DEMO AO VIVO — 3 CLIQUES, 2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D233F"/>
                </a:solidFill>
                <a:latin typeface="Aptos Display"/>
              </a:rPr>
              <a:t>Ao vivo.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7406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0D233F"/>
                </a:solidFill>
                <a:latin typeface="Aptos"/>
              </a:rPr>
              <a:t>•  1 · Fila → INC8654273 → modal SHAP: base, versão, fidelidade.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D233F"/>
                </a:solidFill>
                <a:latin typeface="Aptos"/>
              </a:rPr>
              <a:t>•  2 · Tático D+7: WAPE holdout vs. baseline + p do Diebold-Mariano.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D233F"/>
                </a:solidFill>
                <a:latin typeface="Aptos"/>
              </a:rPr>
              <a:t>•  3 · Engenharia: algoritmo + DBCV → retreino como admin (viewer: 403).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D233F"/>
                </a:solidFill>
                <a:latin typeface="Aptos"/>
              </a:rPr>
              <a:t>•  Plano B: se cair, os 33 testes continuam verdes — a prova não depende do palco.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MATURIDADE É LISTAR O QUE FALTA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O que ainda</a:t>
            </a: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0D233F"/>
                </a:solidFill>
                <a:latin typeface="Aptos Display"/>
              </a:rPr>
              <a:t>não provamos.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7406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−38,5% / −21,4% aguardam piloto controlado (RCT/DiD/ITS).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ACR-001 exige holdout de dezembro (CV 0,8475 o tangencia).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Precisão 0,165 = preço declarado da cobertura (prevalência 5%).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D233F"/>
                </a:solidFill>
                <a:latin typeface="Aptos"/>
              </a:rPr>
              <a:t>•  P1 tem n = 1 — sem generalização, dito na tela. Produção bloqueada.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58368"/>
            <a:ext cx="73152" cy="3977639"/>
          </a:xfrm>
          <a:prstGeom prst="rect">
            <a:avLst/>
          </a:prstGeom>
          <a:solidFill>
            <a:srgbClr val="2E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66B0"/>
                </a:solidFill>
                <a:latin typeface="Aptos"/>
              </a:rPr>
              <a:t>FUSIONOPS · GRUPO GKL · 2TSCOA · LOCAWEB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4630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0D233F"/>
                </a:solidFill>
                <a:latin typeface="Aptos Display"/>
              </a:rPr>
              <a:t>Sólido não é perfeito.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0D233F"/>
                </a:solidFill>
                <a:latin typeface="Aptos Display"/>
              </a:rPr>
              <a:t>Sólido é incapaz de mentir.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5204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56B78"/>
                </a:solidFill>
                <a:latin typeface="Aptos"/>
              </a:rPr>
              <a:t>FusionOps — prever antes, provar sempre. Obrigado.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0876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>
                <a:solidFill>
                  <a:srgbClr val="DAE6E8"/>
                </a:solidFill>
                <a:latin typeface="Aptos Display"/>
              </a:rPr>
              <a:t>FIM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